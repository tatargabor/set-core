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  <a:latin typeface="Segoe UI"/>
              </a:defRPr>
            </a:pPr>
            <a:r>
              <a:t>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Autonomous multi-agent orchestration for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Segoe UI"/>
              </a:defRPr>
            </a:pPr>
            <a:r>
              <a:t>Give it a spec — get merged features.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The problem — why prompt and pray isn't enough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Six pillars — SPECIFY, DECOMPOSE, EXECUTE, SUPERVISE, VERIFY, LEARN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The input — spec + design = quality input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E2E Demo: MiniShop — the full pipeline walkthrough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Works everywhere — greenfield, brownfield, isolated unit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Dashboard &amp; monitoring — real-time visibility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Lessons learned — 100+ runs in production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Roadmap — where we're heading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Why isn't prompting enough?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coding today — the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Typical approach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Divergence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Run prompt twice = 2 different results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Not reproducible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Agents make up what they don't know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Missing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Quality roulette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LLM judges code quality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Inconsistent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Spec drift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"Tests pass" ≠ "spec is satisfied"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Partial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Amnesia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Every session starts from scratch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Repeated mistakes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Bug fixing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Manual debugging, 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Lost 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Most AI coding tools are non-deterministic — same prompt, different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How SET addresses 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SET solution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Divergence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3-layer template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83-87% convergence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OpenSpec + acceptance criteria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Implements against spec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Quality roulette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Programmatic gates (exit codes)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Deterministic pass/fail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Spec drift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Coverage tracking + auto-replan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100% spec coverage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Amnesia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Hook-driven memory (5 layers)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100% context capture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Bug fixing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Issue pipeline: detect → fix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30 second recovery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"We don't prompt — we specify."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Six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The architecture behind autonomous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SPECIFY → DECOMPOSE → EXECUTE → SUPERVISE → VERIFY → LEARN</a:t>
            </a:r>
          </a:p>
        </p:txBody>
      </p:sp>
      <p:pic>
        <p:nvPicPr>
          <p:cNvPr id="3" name="Picture 2" descr="01-six-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85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Every feature, gate, and automation maps to one of these six pillars.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Change lifecycle — state machine</a:t>
            </a:r>
          </a:p>
        </p:txBody>
      </p:sp>
      <p:pic>
        <p:nvPicPr>
          <p:cNvPr id="3" name="Picture 2" descr="02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40833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The system doesn't stop until the spec is 100% covered.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Three-tier supervision</a:t>
            </a:r>
          </a:p>
        </p:txBody>
      </p:sp>
      <p:pic>
        <p:nvPicPr>
          <p:cNvPr id="3" name="Picture 2" descr="08-super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20301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Agents handle code errors. Orchestrator handles workflow. Sentinel handles infrastructure.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Gradual escalation — when things break</a:t>
            </a:r>
          </a:p>
        </p:txBody>
      </p:sp>
      <p:pic>
        <p:nvPicPr>
          <p:cNvPr id="3" name="Picture 2" descr="05-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193807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L2 (restart) solves 70% of problems. L4 (give up) is better than burning unlimited tokens.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The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Output quality depends on input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What a good spec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Data model — entities, fields, relations, enums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Pages — sections, columns, components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Design tokens — hex colors, fonts, spacing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Auth &amp; roles — protected routes, registration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Seed data — realistic names, not "Product 1"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i18n — locales, URL structure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Business requirements — user stories, acceptance criteria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You are the product owner. Agents are the dev team.</a:t>
            </a:r>
          </a:p>
          <a:p>
            <a:pPr>
              <a:spcAft>
                <a:spcPts val="96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The spec is the sprint backlog.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Spec + Figma Design</a:t>
            </a:r>
          </a:p>
        </p:txBody>
      </p:sp>
      <p:pic>
        <p:nvPicPr>
          <p:cNvPr id="3" name="Picture 2" descr="spec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4425493"/>
          </a:xfrm>
          <a:prstGeom prst="rect">
            <a:avLst/>
          </a:prstGeom>
        </p:spPr>
      </p:pic>
      <p:pic>
        <p:nvPicPr>
          <p:cNvPr id="4" name="Picture 3" descr="storefront-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3729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set-design-sync extracts Figma tokens → design-system.md → agents read before implementation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E2E Demo: MiniShop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Building a webshop from a spec — 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pipeline</a:t>
            </a:r>
          </a:p>
        </p:txBody>
      </p:sp>
      <p:pic>
        <p:nvPicPr>
          <p:cNvPr id="3" name="Picture 2" descr="03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7 stages. Fully automatic. Sentinel supervises everything.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Dependency DAG — phased execution</a:t>
            </a:r>
          </a:p>
        </p:txBody>
      </p:sp>
      <p:pic>
        <p:nvPicPr>
          <p:cNvPr id="3" name="Picture 2" descr="04-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9876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Phase 2 runs in parallel: products + admin-auth have no dependencies on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Step 1: Digest — extracting requirements</a:t>
            </a:r>
          </a:p>
        </p:txBody>
      </p:sp>
      <p:pic>
        <p:nvPicPr>
          <p:cNvPr id="3" name="Picture 2" descr="tab-di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Domains: Products, Cart, Auth, Admin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32 requirements with REQ-IDs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84 acceptance criteria (WHEN/THEN)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Every REQ-ID tracked through</a:t>
            </a:r>
          </a:p>
          <a:p>
            <a:pPr>
              <a:spcAft>
                <a:spcPts val="84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the entire pipeline.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Step 3: Dispatch — parallel agents in worktrees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Each change → own git worktree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Full isolation: can't interfere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Even with 1 change: worktree keeps main clean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22C55E"/>
                </a:solidFill>
                <a:latin typeface="Segoe UI"/>
              </a:defRPr>
            </a:pPr>
            <a:r>
              <a:t>Inside each agent the Ralph Loop runs: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proposal → design → spec → tasks → code → test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One agent = one change = one worktree</a:t>
            </a:r>
          </a:p>
        </p:txBody>
      </p:sp>
      <p:pic>
        <p:nvPicPr>
          <p:cNvPr id="4" name="Picture 3" descr="tab-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agent works — real-time terminal</a:t>
            </a:r>
          </a:p>
        </p:txBody>
      </p:sp>
      <p:pic>
        <p:nvPicPr>
          <p:cNvPr id="3" name="Picture 2" descr="tab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915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Not a black box — every step is observable: code writing, test running, bug fixing.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Step 5: Verify — 7 quality gates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6576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Checks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8s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Unit/integration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Deterministic (exit 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35s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Type check + bundle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Deterministic (exit 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E2E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45s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Browser-based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Deterministic (exit 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25s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Code quality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LLM (CRITICAL=fail)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Requirement coverage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LLM + pattern 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Smoke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15s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Post-merge sanity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Deterministic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Total gate time: 422 seconds (12% of build time). Fast gates first — Jest fails? No waiting for Playwright.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Self-healing pipeline</a:t>
            </a:r>
          </a:p>
        </p:txBody>
      </p:sp>
      <p:pic>
        <p:nvPicPr>
          <p:cNvPr id="3" name="Picture 2" descr="07-self-he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570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MiniShop: 5 gate failures, 5 autonomous fixes. Including IDOR vulnerabilities caught and patched.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5 gate failures — 5 automatic fixes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13716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Agent fix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Missing test 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Added test 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Jest config error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Fixed path mapping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Playwright auth tests (3 specs)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E2E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Updated redirects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Post-merge type error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Synced with 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Cart test race condition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E2E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Added waitForSelector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Without gates, these 5 bugs would have merged into main and caused cascading failures.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Step 6: Merge —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FF-only merge — clean history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Sequential merge queue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Phase ordering — phase 2 after 1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  <a:r>
              <a:t>Post-merge smoke test</a:t>
            </a:r>
          </a:p>
          <a:p>
            <a:pPr>
              <a:spcAft>
                <a:spcPts val="840"/>
              </a:spcAft>
              <a:defRPr sz="14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The merge queue is the bottleneck</a:t>
            </a:r>
          </a:p>
          <a:p>
            <a:pPr>
              <a:spcAft>
                <a:spcPts val="84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— intentionally.</a:t>
            </a:r>
          </a:p>
        </p:txBody>
      </p:sp>
      <p:pic>
        <p:nvPicPr>
          <p:cNvPr id="4" name="Picture 3" descr="tab-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Works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Not just "build me an app from scratch"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Greenfield, Brownfield, Isolated Unit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Greenfield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Full app from spec + design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MiniShop: 6/6, 1h 45m, 0 interventions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Brownfield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Existing codebase + new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SET builds itself: 1,500+ commits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Isolated unit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One module, one feature, one fix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 API endpoints with auth in existing Next.js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Same pipeline in all modes. The entry barrier is not a 30-page spec — it can be a single task description.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What the pipeline produced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MiniShop — the finished application</a:t>
            </a:r>
          </a:p>
        </p:txBody>
      </p:sp>
      <p:pic>
        <p:nvPicPr>
          <p:cNvPr id="3" name="Picture 2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4810458"/>
          </a:xfrm>
          <a:prstGeom prst="rect">
            <a:avLst/>
          </a:prstGeom>
        </p:spPr>
      </p:pic>
      <p:pic>
        <p:nvPicPr>
          <p:cNvPr id="4" name="Picture 3" descr="produc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4810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Product listing + detail pages — real data, working navigation, responsive layout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MiniShop — cart and admin</a:t>
            </a:r>
          </a:p>
        </p:txBody>
      </p:sp>
      <p:pic>
        <p:nvPicPr>
          <p:cNvPr id="3" name="Picture 2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2983230"/>
          </a:xfrm>
          <a:prstGeom prst="rect">
            <a:avLst/>
          </a:prstGeom>
        </p:spPr>
      </p:pic>
      <p:pic>
        <p:nvPicPr>
          <p:cNvPr id="4" name="Picture 3" descr="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2983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Working cart with totals | Admin dashboard — protected route, session-based auth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numbers — MiniShop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Changes planned/merged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6/6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Total wall 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1h 45m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Human interventions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Merge conflicts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Jest unit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38 (6 suites)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Playwright E2E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32 (6 spec files)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Total 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2.7M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Gate retries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5 (all self-healed)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Roughly equivalent to a day's work by 3-4 senior developers.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Token usage</a:t>
            </a:r>
          </a:p>
        </p:txBody>
      </p:sp>
      <p:pic>
        <p:nvPicPr>
          <p:cNvPr id="3" name="Picture 2" descr="tab-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915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Cache ratio 26:1 — prompt caching dramatically reduces cost. Only input + output billed.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Dashboard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Real-time visibility into everything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Web Dashboard — localhost:7400</a:t>
            </a:r>
          </a:p>
        </p:txBody>
      </p:sp>
      <p:pic>
        <p:nvPicPr>
          <p:cNvPr id="3" name="Picture 2" descr="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915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Changes, Phases, Tokens, Sessions, Sentinel, Log, Agent, Learnings, Digest — all live.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Dashboard tabs — live data</a:t>
            </a:r>
          </a:p>
        </p:txBody>
      </p:sp>
      <p:pic>
        <p:nvPicPr>
          <p:cNvPr id="3" name="Picture 2" descr="tab-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2983230"/>
          </a:xfrm>
          <a:prstGeom prst="rect">
            <a:avLst/>
          </a:prstGeom>
        </p:spPr>
      </p:pic>
      <p:pic>
        <p:nvPicPr>
          <p:cNvPr id="4" name="Picture 3" descr="tab-learn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2983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Changes: status at a glance | Learnings: gate failures, agent solutions, patterns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3 layers, extensible plugin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3-layer architecture</a:t>
            </a:r>
          </a:p>
        </p:txBody>
      </p:sp>
      <p:pic>
        <p:nvPicPr>
          <p:cNvPr id="3" name="Picture 2" descr="06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515600" cy="503310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Layer 1 never contains project-specific logic. All web code lives in Layer 2.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100+ runs, real production experience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8 lessons from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1. Agents need structure, not just prompts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OpenSpec artifacts keep them focused. Without: 3 agents, 3 table libs.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2. Quality gates must be deterministic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Exit code &gt; LLM judgment. Agents gamed the LLM review.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3. Merge conflicts are #1 cascading failure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Phase ordering + DAG + sequential merge queue.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4. Memory without hooks is useless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15+ sessions, 0 voluntary saves. 5-layer hooks: +34% improvement.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8 lessons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5. E2E testing reveals what unit tests don't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Stale locks, zombie worktrees, race conditions in poll cycle.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6. Stall detection needs grace periods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pnpm install &gt;60s = watchdog killed it. Context-aware timeouts.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7. The Sentinel pays for itself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3 overnight runs lost before sentinel. 5-10 LLM calls/run saves hours.</a:t>
            </a:r>
          </a:p>
          <a:p>
            <a:pPr>
              <a:spcAft>
                <a:spcPts val="960"/>
              </a:spcAft>
              <a:defRPr sz="1600" b="1">
                <a:solidFill>
                  <a:srgbClr val="22C55E"/>
                </a:solidFill>
                <a:latin typeface="Segoe UI"/>
              </a:defRPr>
            </a:pPr>
            <a:r>
              <a:t>8. Templates beat conventions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   "Make a Next.js project" = 5 structures. Templates = 0% divergence.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Scaling: MiniShop vs CraftBrew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MiniShop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CraftBrew #7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Multiplier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Changes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2.5x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Source 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150+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DB models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~8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3.5x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Merge conflicts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 (all resolved)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Human intervention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Wall 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1h 45m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~6h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3.4x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2.7M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~11M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Token scaling is super-linear (4x tokens for 2.5x changes) — later changes need more context.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Convergence — measuring reproducibility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Match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DB schema (models, fields, relations)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Conventions (naming, structure)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Routes (URLs, API endpoints)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83/100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Remaining 17% is stylistic, not structural. Schema and conventions are fully deterministic.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Segoe UI"/>
              </a:defRPr>
            </a:pPr>
            <a:r>
              <a:t>Where we're heading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Development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Divergence reduction — template optimization, scaffold testing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Build time optimization — parallel gates, incremental builds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Session context reuse — reduce cold-start token overhead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Memory optimization — relevance scoring, auto-rule conversion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Gate intelligence — adaptive thresholds from historical data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Merge conflict prevention — proactive file-level detection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Core/Web separation — 170+ web refs leaked into core</a:t>
            </a:r>
          </a:p>
          <a:p>
            <a:pPr>
              <a:spcAft>
                <a:spcPts val="96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NIS2 Compliance Layer — EU 2022/2555 directive</a:t>
            </a:r>
          </a:p>
          <a:p>
            <a:pPr>
              <a:spcAft>
                <a:spcPts val="96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shadcn/ui Design Connector — local design-system.md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SPECIFY → DECOMPOSE → EXECUTE → SUPERVISE → VERIFY →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Segoe UI"/>
              </a:defRPr>
            </a:pPr>
            <a:r>
              <a:t>6 changes | 1h 45m | 0 interventions | 70 tests | 100% spec coverage</a:t>
            </a:r>
            <a:br/>
            <a:r>
              <a:t>Greenfield, brownfield, isolated unit — same pipeline.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22C55E"/>
                </a:solidFill>
                <a:latin typeface="Segoe UI"/>
              </a:defRPr>
            </a:pPr>
            <a:r>
              <a:t>GitHub: github.com/tatargabor/set-core</a:t>
            </a:r>
          </a:p>
          <a:p>
            <a:pPr>
              <a:spcAft>
                <a:spcPts val="960"/>
              </a:spcAft>
              <a:defRPr sz="1600" b="0">
                <a:solidFill>
                  <a:srgbClr val="22C55E"/>
                </a:solidFill>
                <a:latin typeface="Segoe UI"/>
              </a:defRPr>
            </a:pPr>
            <a:r>
              <a:t>Website: setcode.dev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Benchmarks: docs/learn/benchmarks.md</a:t>
            </a:r>
          </a:p>
          <a:p>
            <a:pPr>
              <a:spcAft>
                <a:spcPts val="96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Lessons learned: docs/learn/lessons-learned.md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Try it: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pip install -e . &amp;&amp; pip install -e modules/web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./tests/e2e/runners/run-micro-web.sh</a:t>
            </a:r>
          </a:p>
          <a:p>
            <a:pPr>
              <a:spcAft>
                <a:spcPts val="960"/>
              </a:spcAft>
              <a:defRPr sz="1600" b="0">
                <a:solidFill>
                  <a:srgbClr val="E2E8F0"/>
                </a:solidFill>
                <a:latin typeface="Segoe UI"/>
              </a:defRPr>
            </a:pPr>
            <a:r>
              <a:t>open http://localhost:7400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